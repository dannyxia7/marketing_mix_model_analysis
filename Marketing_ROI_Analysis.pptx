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71" r:id="rId4"/>
    <p:sldId id="257" r:id="rId5"/>
    <p:sldId id="258" r:id="rId6"/>
    <p:sldId id="260" r:id="rId7"/>
    <p:sldId id="267" r:id="rId8"/>
    <p:sldId id="259" r:id="rId9"/>
    <p:sldId id="268" r:id="rId10"/>
    <p:sldId id="264" r:id="rId11"/>
    <p:sldId id="261" r:id="rId12"/>
    <p:sldId id="263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09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3BA945-8957-44E4-8960-B89B7864F90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2FE54D89-9E55-41F7-B70D-08A2D1EB2D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Our model estimates the additional revenue generated per dollar spent, excluding long-term effects</a:t>
          </a:r>
        </a:p>
      </dgm:t>
    </dgm:pt>
    <dgm:pt modelId="{197F089A-B214-4EE7-A07F-551A1F32A7C0}" type="parTrans" cxnId="{1FB0BF43-8EFF-4D91-A2F9-6F0600593D96}">
      <dgm:prSet/>
      <dgm:spPr/>
      <dgm:t>
        <a:bodyPr/>
        <a:lstStyle/>
        <a:p>
          <a:endParaRPr lang="en-US"/>
        </a:p>
      </dgm:t>
    </dgm:pt>
    <dgm:pt modelId="{1FEF3EC3-3F1D-46FA-9D8A-28A37ECB6ADC}" type="sibTrans" cxnId="{1FB0BF43-8EFF-4D91-A2F9-6F0600593D96}">
      <dgm:prSet/>
      <dgm:spPr/>
      <dgm:t>
        <a:bodyPr/>
        <a:lstStyle/>
        <a:p>
          <a:endParaRPr lang="en-US"/>
        </a:p>
      </dgm:t>
    </dgm:pt>
    <dgm:pt modelId="{7BCB4D61-53A7-4C76-9851-C3BD5166E0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Model measures incremental short-term impact</a:t>
          </a:r>
        </a:p>
      </dgm:t>
    </dgm:pt>
    <dgm:pt modelId="{341DFC73-95E1-40DE-9F06-3F2970CDC15C}" type="parTrans" cxnId="{BF987013-5C6F-4355-8E99-DAFA3DCA6045}">
      <dgm:prSet/>
      <dgm:spPr/>
      <dgm:t>
        <a:bodyPr/>
        <a:lstStyle/>
        <a:p>
          <a:endParaRPr lang="en-US"/>
        </a:p>
      </dgm:t>
    </dgm:pt>
    <dgm:pt modelId="{4CFADCBA-A870-45AE-86A5-1798CC61294A}" type="sibTrans" cxnId="{BF987013-5C6F-4355-8E99-DAFA3DCA6045}">
      <dgm:prSet/>
      <dgm:spPr/>
      <dgm:t>
        <a:bodyPr/>
        <a:lstStyle/>
        <a:p>
          <a:endParaRPr lang="en-US"/>
        </a:p>
      </dgm:t>
    </dgm:pt>
    <dgm:pt modelId="{14E3EE4A-7991-4467-9802-A7F433094A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Does not fully capture long-term customer value (repeat purchases, referrals, cross-sell)</a:t>
          </a:r>
        </a:p>
      </dgm:t>
    </dgm:pt>
    <dgm:pt modelId="{BF591D9F-2B7E-4DE7-BB8E-AAAC88DC4582}" type="parTrans" cxnId="{8FC09842-EB9E-4B28-BE28-CDCFA4B845C9}">
      <dgm:prSet/>
      <dgm:spPr/>
      <dgm:t>
        <a:bodyPr/>
        <a:lstStyle/>
        <a:p>
          <a:endParaRPr lang="en-US"/>
        </a:p>
      </dgm:t>
    </dgm:pt>
    <dgm:pt modelId="{A91A55E0-EEBD-46F1-8ED3-59A72EA74673}" type="sibTrans" cxnId="{8FC09842-EB9E-4B28-BE28-CDCFA4B845C9}">
      <dgm:prSet/>
      <dgm:spPr/>
      <dgm:t>
        <a:bodyPr/>
        <a:lstStyle/>
        <a:p>
          <a:endParaRPr lang="en-US"/>
        </a:p>
      </dgm:t>
    </dgm:pt>
    <dgm:pt modelId="{CAA63104-94E6-437E-A82D-374E09C792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ROI reflects conservative, short-term estimate of marketing effectiveness</a:t>
          </a:r>
        </a:p>
      </dgm:t>
    </dgm:pt>
    <dgm:pt modelId="{B079C38F-B14A-4E66-9D8B-42BF7E1A5BF3}" type="parTrans" cxnId="{30022A63-CB16-4EEA-807D-0E3D436D4885}">
      <dgm:prSet/>
      <dgm:spPr/>
      <dgm:t>
        <a:bodyPr/>
        <a:lstStyle/>
        <a:p>
          <a:endParaRPr lang="en-US"/>
        </a:p>
      </dgm:t>
    </dgm:pt>
    <dgm:pt modelId="{9FB467CB-4CFF-463D-B0D9-A5F47B9041DA}" type="sibTrans" cxnId="{30022A63-CB16-4EEA-807D-0E3D436D4885}">
      <dgm:prSet/>
      <dgm:spPr/>
      <dgm:t>
        <a:bodyPr/>
        <a:lstStyle/>
        <a:p>
          <a:endParaRPr lang="en-US"/>
        </a:p>
      </dgm:t>
    </dgm:pt>
    <dgm:pt modelId="{38B34A65-EFE9-460B-9325-7DCF1D3856ED}" type="pres">
      <dgm:prSet presAssocID="{763BA945-8957-44E4-8960-B89B7864F90C}" presName="root" presStyleCnt="0">
        <dgm:presLayoutVars>
          <dgm:dir/>
          <dgm:resizeHandles val="exact"/>
        </dgm:presLayoutVars>
      </dgm:prSet>
      <dgm:spPr/>
    </dgm:pt>
    <dgm:pt modelId="{E686ED16-E544-4D31-93E3-D53D0C001E82}" type="pres">
      <dgm:prSet presAssocID="{2FE54D89-9E55-41F7-B70D-08A2D1EB2D4D}" presName="compNode" presStyleCnt="0"/>
      <dgm:spPr/>
    </dgm:pt>
    <dgm:pt modelId="{63290AAA-9CFF-49A4-BF3A-C957E3F31D77}" type="pres">
      <dgm:prSet presAssocID="{2FE54D89-9E55-41F7-B70D-08A2D1EB2D4D}" presName="bgRect" presStyleLbl="bgShp" presStyleIdx="0" presStyleCnt="4"/>
      <dgm:spPr/>
    </dgm:pt>
    <dgm:pt modelId="{2646DE87-3DC9-45AC-86B8-6ED9D209E5FB}" type="pres">
      <dgm:prSet presAssocID="{2FE54D89-9E55-41F7-B70D-08A2D1EB2D4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4C9B7293-77ED-4C92-9291-0DE571D4AE46}" type="pres">
      <dgm:prSet presAssocID="{2FE54D89-9E55-41F7-B70D-08A2D1EB2D4D}" presName="spaceRect" presStyleCnt="0"/>
      <dgm:spPr/>
    </dgm:pt>
    <dgm:pt modelId="{C957B46F-95C5-4859-A3F3-94103148B380}" type="pres">
      <dgm:prSet presAssocID="{2FE54D89-9E55-41F7-B70D-08A2D1EB2D4D}" presName="parTx" presStyleLbl="revTx" presStyleIdx="0" presStyleCnt="4">
        <dgm:presLayoutVars>
          <dgm:chMax val="0"/>
          <dgm:chPref val="0"/>
        </dgm:presLayoutVars>
      </dgm:prSet>
      <dgm:spPr/>
    </dgm:pt>
    <dgm:pt modelId="{3886E996-0697-4D32-88EF-CB62F7328570}" type="pres">
      <dgm:prSet presAssocID="{1FEF3EC3-3F1D-46FA-9D8A-28A37ECB6ADC}" presName="sibTrans" presStyleCnt="0"/>
      <dgm:spPr/>
    </dgm:pt>
    <dgm:pt modelId="{E051249D-B63D-4AA0-9E71-87F7FF59AFDF}" type="pres">
      <dgm:prSet presAssocID="{7BCB4D61-53A7-4C76-9851-C3BD5166E078}" presName="compNode" presStyleCnt="0"/>
      <dgm:spPr/>
    </dgm:pt>
    <dgm:pt modelId="{1209DC8D-D7AC-42C8-89AC-44D1F91600F5}" type="pres">
      <dgm:prSet presAssocID="{7BCB4D61-53A7-4C76-9851-C3BD5166E078}" presName="bgRect" presStyleLbl="bgShp" presStyleIdx="1" presStyleCnt="4"/>
      <dgm:spPr/>
    </dgm:pt>
    <dgm:pt modelId="{1C87F203-9ED7-4717-8DAA-03836687B26A}" type="pres">
      <dgm:prSet presAssocID="{7BCB4D61-53A7-4C76-9851-C3BD5166E07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A0ACD70-507B-490B-874D-933F67D2FE9E}" type="pres">
      <dgm:prSet presAssocID="{7BCB4D61-53A7-4C76-9851-C3BD5166E078}" presName="spaceRect" presStyleCnt="0"/>
      <dgm:spPr/>
    </dgm:pt>
    <dgm:pt modelId="{C4E7BC62-E530-44E5-AF43-83F2C90BF114}" type="pres">
      <dgm:prSet presAssocID="{7BCB4D61-53A7-4C76-9851-C3BD5166E078}" presName="parTx" presStyleLbl="revTx" presStyleIdx="1" presStyleCnt="4">
        <dgm:presLayoutVars>
          <dgm:chMax val="0"/>
          <dgm:chPref val="0"/>
        </dgm:presLayoutVars>
      </dgm:prSet>
      <dgm:spPr/>
    </dgm:pt>
    <dgm:pt modelId="{B79B081B-31A3-4C7C-84A7-1C602F46BC26}" type="pres">
      <dgm:prSet presAssocID="{4CFADCBA-A870-45AE-86A5-1798CC61294A}" presName="sibTrans" presStyleCnt="0"/>
      <dgm:spPr/>
    </dgm:pt>
    <dgm:pt modelId="{2594AC67-D5FB-4190-A588-8A8D5B4D0C65}" type="pres">
      <dgm:prSet presAssocID="{14E3EE4A-7991-4467-9802-A7F433094A29}" presName="compNode" presStyleCnt="0"/>
      <dgm:spPr/>
    </dgm:pt>
    <dgm:pt modelId="{1E2688B7-68F9-4339-9CB6-4B2661224FB4}" type="pres">
      <dgm:prSet presAssocID="{14E3EE4A-7991-4467-9802-A7F433094A29}" presName="bgRect" presStyleLbl="bgShp" presStyleIdx="2" presStyleCnt="4"/>
      <dgm:spPr/>
    </dgm:pt>
    <dgm:pt modelId="{26C4ED3B-C550-435B-80C8-2F51B652B606}" type="pres">
      <dgm:prSet presAssocID="{14E3EE4A-7991-4467-9802-A7F433094A2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52F88D31-87E8-4FCE-845D-2EE62B490381}" type="pres">
      <dgm:prSet presAssocID="{14E3EE4A-7991-4467-9802-A7F433094A29}" presName="spaceRect" presStyleCnt="0"/>
      <dgm:spPr/>
    </dgm:pt>
    <dgm:pt modelId="{34DE33E4-E936-4709-9983-47C727703AA1}" type="pres">
      <dgm:prSet presAssocID="{14E3EE4A-7991-4467-9802-A7F433094A29}" presName="parTx" presStyleLbl="revTx" presStyleIdx="2" presStyleCnt="4">
        <dgm:presLayoutVars>
          <dgm:chMax val="0"/>
          <dgm:chPref val="0"/>
        </dgm:presLayoutVars>
      </dgm:prSet>
      <dgm:spPr/>
    </dgm:pt>
    <dgm:pt modelId="{9533EC7B-CE5E-4B60-BF61-6F8EF17149FC}" type="pres">
      <dgm:prSet presAssocID="{A91A55E0-EEBD-46F1-8ED3-59A72EA74673}" presName="sibTrans" presStyleCnt="0"/>
      <dgm:spPr/>
    </dgm:pt>
    <dgm:pt modelId="{9CA32C01-EFCA-4354-89D7-5200206B6E5C}" type="pres">
      <dgm:prSet presAssocID="{CAA63104-94E6-437E-A82D-374E09C79277}" presName="compNode" presStyleCnt="0"/>
      <dgm:spPr/>
    </dgm:pt>
    <dgm:pt modelId="{E93B1B27-5062-440D-8603-72F1DF894A71}" type="pres">
      <dgm:prSet presAssocID="{CAA63104-94E6-437E-A82D-374E09C79277}" presName="bgRect" presStyleLbl="bgShp" presStyleIdx="3" presStyleCnt="4"/>
      <dgm:spPr/>
    </dgm:pt>
    <dgm:pt modelId="{4D56E117-AA9A-4453-940E-A5C668F75D08}" type="pres">
      <dgm:prSet presAssocID="{CAA63104-94E6-437E-A82D-374E09C7927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242EBB2E-0468-45E7-BB84-09E1192AF351}" type="pres">
      <dgm:prSet presAssocID="{CAA63104-94E6-437E-A82D-374E09C79277}" presName="spaceRect" presStyleCnt="0"/>
      <dgm:spPr/>
    </dgm:pt>
    <dgm:pt modelId="{86C22642-2218-4B6D-913E-4340A3382C54}" type="pres">
      <dgm:prSet presAssocID="{CAA63104-94E6-437E-A82D-374E09C7927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F987013-5C6F-4355-8E99-DAFA3DCA6045}" srcId="{763BA945-8957-44E4-8960-B89B7864F90C}" destId="{7BCB4D61-53A7-4C76-9851-C3BD5166E078}" srcOrd="1" destOrd="0" parTransId="{341DFC73-95E1-40DE-9F06-3F2970CDC15C}" sibTransId="{4CFADCBA-A870-45AE-86A5-1798CC61294A}"/>
    <dgm:cxn modelId="{61A97322-0C9F-40D2-A958-29CFFE6FFC50}" type="presOf" srcId="{14E3EE4A-7991-4467-9802-A7F433094A29}" destId="{34DE33E4-E936-4709-9983-47C727703AA1}" srcOrd="0" destOrd="0" presId="urn:microsoft.com/office/officeart/2018/2/layout/IconVerticalSolidList"/>
    <dgm:cxn modelId="{C2743528-41E8-4799-97B5-E9BA3F0DFA2F}" type="presOf" srcId="{2FE54D89-9E55-41F7-B70D-08A2D1EB2D4D}" destId="{C957B46F-95C5-4859-A3F3-94103148B380}" srcOrd="0" destOrd="0" presId="urn:microsoft.com/office/officeart/2018/2/layout/IconVerticalSolidList"/>
    <dgm:cxn modelId="{AECC7938-40F8-4338-B980-4908D5BA4B02}" type="presOf" srcId="{7BCB4D61-53A7-4C76-9851-C3BD5166E078}" destId="{C4E7BC62-E530-44E5-AF43-83F2C90BF114}" srcOrd="0" destOrd="0" presId="urn:microsoft.com/office/officeart/2018/2/layout/IconVerticalSolidList"/>
    <dgm:cxn modelId="{8FC09842-EB9E-4B28-BE28-CDCFA4B845C9}" srcId="{763BA945-8957-44E4-8960-B89B7864F90C}" destId="{14E3EE4A-7991-4467-9802-A7F433094A29}" srcOrd="2" destOrd="0" parTransId="{BF591D9F-2B7E-4DE7-BB8E-AAAC88DC4582}" sibTransId="{A91A55E0-EEBD-46F1-8ED3-59A72EA74673}"/>
    <dgm:cxn modelId="{30022A63-CB16-4EEA-807D-0E3D436D4885}" srcId="{763BA945-8957-44E4-8960-B89B7864F90C}" destId="{CAA63104-94E6-437E-A82D-374E09C79277}" srcOrd="3" destOrd="0" parTransId="{B079C38F-B14A-4E66-9D8B-42BF7E1A5BF3}" sibTransId="{9FB467CB-4CFF-463D-B0D9-A5F47B9041DA}"/>
    <dgm:cxn modelId="{1FB0BF43-8EFF-4D91-A2F9-6F0600593D96}" srcId="{763BA945-8957-44E4-8960-B89B7864F90C}" destId="{2FE54D89-9E55-41F7-B70D-08A2D1EB2D4D}" srcOrd="0" destOrd="0" parTransId="{197F089A-B214-4EE7-A07F-551A1F32A7C0}" sibTransId="{1FEF3EC3-3F1D-46FA-9D8A-28A37ECB6ADC}"/>
    <dgm:cxn modelId="{FD031F8B-AC81-4BD1-A8BB-56154D97E552}" type="presOf" srcId="{CAA63104-94E6-437E-A82D-374E09C79277}" destId="{86C22642-2218-4B6D-913E-4340A3382C54}" srcOrd="0" destOrd="0" presId="urn:microsoft.com/office/officeart/2018/2/layout/IconVerticalSolidList"/>
    <dgm:cxn modelId="{5E5FD9F2-A72E-4182-BB6C-49B978ACBDA4}" type="presOf" srcId="{763BA945-8957-44E4-8960-B89B7864F90C}" destId="{38B34A65-EFE9-460B-9325-7DCF1D3856ED}" srcOrd="0" destOrd="0" presId="urn:microsoft.com/office/officeart/2018/2/layout/IconVerticalSolidList"/>
    <dgm:cxn modelId="{24F2A91E-8BA6-419A-9088-AECD4A05D0C8}" type="presParOf" srcId="{38B34A65-EFE9-460B-9325-7DCF1D3856ED}" destId="{E686ED16-E544-4D31-93E3-D53D0C001E82}" srcOrd="0" destOrd="0" presId="urn:microsoft.com/office/officeart/2018/2/layout/IconVerticalSolidList"/>
    <dgm:cxn modelId="{7855FEA8-8497-483E-90E2-817E04EA4E68}" type="presParOf" srcId="{E686ED16-E544-4D31-93E3-D53D0C001E82}" destId="{63290AAA-9CFF-49A4-BF3A-C957E3F31D77}" srcOrd="0" destOrd="0" presId="urn:microsoft.com/office/officeart/2018/2/layout/IconVerticalSolidList"/>
    <dgm:cxn modelId="{5B70AF20-CAF9-4E48-BDB7-31F4EDC0C81B}" type="presParOf" srcId="{E686ED16-E544-4D31-93E3-D53D0C001E82}" destId="{2646DE87-3DC9-45AC-86B8-6ED9D209E5FB}" srcOrd="1" destOrd="0" presId="urn:microsoft.com/office/officeart/2018/2/layout/IconVerticalSolidList"/>
    <dgm:cxn modelId="{CBCF6A00-E3B6-4463-919D-6FE13F992BAC}" type="presParOf" srcId="{E686ED16-E544-4D31-93E3-D53D0C001E82}" destId="{4C9B7293-77ED-4C92-9291-0DE571D4AE46}" srcOrd="2" destOrd="0" presId="urn:microsoft.com/office/officeart/2018/2/layout/IconVerticalSolidList"/>
    <dgm:cxn modelId="{92C45643-E51E-4D24-A67B-07775C23CEF8}" type="presParOf" srcId="{E686ED16-E544-4D31-93E3-D53D0C001E82}" destId="{C957B46F-95C5-4859-A3F3-94103148B380}" srcOrd="3" destOrd="0" presId="urn:microsoft.com/office/officeart/2018/2/layout/IconVerticalSolidList"/>
    <dgm:cxn modelId="{9207DB9B-7ACF-4AB0-B9A2-D66E165BFC75}" type="presParOf" srcId="{38B34A65-EFE9-460B-9325-7DCF1D3856ED}" destId="{3886E996-0697-4D32-88EF-CB62F7328570}" srcOrd="1" destOrd="0" presId="urn:microsoft.com/office/officeart/2018/2/layout/IconVerticalSolidList"/>
    <dgm:cxn modelId="{6A36DE9A-3583-45A6-80B3-A68038BC3E81}" type="presParOf" srcId="{38B34A65-EFE9-460B-9325-7DCF1D3856ED}" destId="{E051249D-B63D-4AA0-9E71-87F7FF59AFDF}" srcOrd="2" destOrd="0" presId="urn:microsoft.com/office/officeart/2018/2/layout/IconVerticalSolidList"/>
    <dgm:cxn modelId="{B2803E72-DFB1-4211-9558-280465E51D43}" type="presParOf" srcId="{E051249D-B63D-4AA0-9E71-87F7FF59AFDF}" destId="{1209DC8D-D7AC-42C8-89AC-44D1F91600F5}" srcOrd="0" destOrd="0" presId="urn:microsoft.com/office/officeart/2018/2/layout/IconVerticalSolidList"/>
    <dgm:cxn modelId="{A6A857E0-534F-404E-8ED7-64D21E7D463E}" type="presParOf" srcId="{E051249D-B63D-4AA0-9E71-87F7FF59AFDF}" destId="{1C87F203-9ED7-4717-8DAA-03836687B26A}" srcOrd="1" destOrd="0" presId="urn:microsoft.com/office/officeart/2018/2/layout/IconVerticalSolidList"/>
    <dgm:cxn modelId="{F3706A2D-AAD6-4BF8-A836-020024942493}" type="presParOf" srcId="{E051249D-B63D-4AA0-9E71-87F7FF59AFDF}" destId="{CA0ACD70-507B-490B-874D-933F67D2FE9E}" srcOrd="2" destOrd="0" presId="urn:microsoft.com/office/officeart/2018/2/layout/IconVerticalSolidList"/>
    <dgm:cxn modelId="{E45DDC00-7E20-4A09-B09A-9C332BD3136D}" type="presParOf" srcId="{E051249D-B63D-4AA0-9E71-87F7FF59AFDF}" destId="{C4E7BC62-E530-44E5-AF43-83F2C90BF114}" srcOrd="3" destOrd="0" presId="urn:microsoft.com/office/officeart/2018/2/layout/IconVerticalSolidList"/>
    <dgm:cxn modelId="{E5CA9033-8938-44FF-A6A5-B5B62ABE6CAC}" type="presParOf" srcId="{38B34A65-EFE9-460B-9325-7DCF1D3856ED}" destId="{B79B081B-31A3-4C7C-84A7-1C602F46BC26}" srcOrd="3" destOrd="0" presId="urn:microsoft.com/office/officeart/2018/2/layout/IconVerticalSolidList"/>
    <dgm:cxn modelId="{A8263BB5-0B56-40D9-B98F-4F519F63ECC5}" type="presParOf" srcId="{38B34A65-EFE9-460B-9325-7DCF1D3856ED}" destId="{2594AC67-D5FB-4190-A588-8A8D5B4D0C65}" srcOrd="4" destOrd="0" presId="urn:microsoft.com/office/officeart/2018/2/layout/IconVerticalSolidList"/>
    <dgm:cxn modelId="{13FDCC0C-0BF6-41BB-B218-5EC15CCB951A}" type="presParOf" srcId="{2594AC67-D5FB-4190-A588-8A8D5B4D0C65}" destId="{1E2688B7-68F9-4339-9CB6-4B2661224FB4}" srcOrd="0" destOrd="0" presId="urn:microsoft.com/office/officeart/2018/2/layout/IconVerticalSolidList"/>
    <dgm:cxn modelId="{EA7C11E1-CB8A-4967-BF30-8AE83B906A26}" type="presParOf" srcId="{2594AC67-D5FB-4190-A588-8A8D5B4D0C65}" destId="{26C4ED3B-C550-435B-80C8-2F51B652B606}" srcOrd="1" destOrd="0" presId="urn:microsoft.com/office/officeart/2018/2/layout/IconVerticalSolidList"/>
    <dgm:cxn modelId="{562CB84B-E052-49C5-91BF-041814DBCC16}" type="presParOf" srcId="{2594AC67-D5FB-4190-A588-8A8D5B4D0C65}" destId="{52F88D31-87E8-4FCE-845D-2EE62B490381}" srcOrd="2" destOrd="0" presId="urn:microsoft.com/office/officeart/2018/2/layout/IconVerticalSolidList"/>
    <dgm:cxn modelId="{03E7B0DA-E11E-4129-AC31-4776CB77547B}" type="presParOf" srcId="{2594AC67-D5FB-4190-A588-8A8D5B4D0C65}" destId="{34DE33E4-E936-4709-9983-47C727703AA1}" srcOrd="3" destOrd="0" presId="urn:microsoft.com/office/officeart/2018/2/layout/IconVerticalSolidList"/>
    <dgm:cxn modelId="{94DBFFAF-6C6D-4FD5-9C23-FE09F5F85F8D}" type="presParOf" srcId="{38B34A65-EFE9-460B-9325-7DCF1D3856ED}" destId="{9533EC7B-CE5E-4B60-BF61-6F8EF17149FC}" srcOrd="5" destOrd="0" presId="urn:microsoft.com/office/officeart/2018/2/layout/IconVerticalSolidList"/>
    <dgm:cxn modelId="{7358226E-38A4-4993-B979-FB075F5EEF26}" type="presParOf" srcId="{38B34A65-EFE9-460B-9325-7DCF1D3856ED}" destId="{9CA32C01-EFCA-4354-89D7-5200206B6E5C}" srcOrd="6" destOrd="0" presId="urn:microsoft.com/office/officeart/2018/2/layout/IconVerticalSolidList"/>
    <dgm:cxn modelId="{1864A893-818B-4E6B-A073-A2F402194852}" type="presParOf" srcId="{9CA32C01-EFCA-4354-89D7-5200206B6E5C}" destId="{E93B1B27-5062-440D-8603-72F1DF894A71}" srcOrd="0" destOrd="0" presId="urn:microsoft.com/office/officeart/2018/2/layout/IconVerticalSolidList"/>
    <dgm:cxn modelId="{6C9139B8-6067-43CF-8803-BD0A8BE7A342}" type="presParOf" srcId="{9CA32C01-EFCA-4354-89D7-5200206B6E5C}" destId="{4D56E117-AA9A-4453-940E-A5C668F75D08}" srcOrd="1" destOrd="0" presId="urn:microsoft.com/office/officeart/2018/2/layout/IconVerticalSolidList"/>
    <dgm:cxn modelId="{4D0A3D62-30D7-4461-AAB5-2C527344C6EF}" type="presParOf" srcId="{9CA32C01-EFCA-4354-89D7-5200206B6E5C}" destId="{242EBB2E-0468-45E7-BB84-09E1192AF351}" srcOrd="2" destOrd="0" presId="urn:microsoft.com/office/officeart/2018/2/layout/IconVerticalSolidList"/>
    <dgm:cxn modelId="{D1F6BF92-34D3-4E81-AC06-CA8604B4B7C0}" type="presParOf" srcId="{9CA32C01-EFCA-4354-89D7-5200206B6E5C}" destId="{86C22642-2218-4B6D-913E-4340A3382C5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42BEE8D-E22A-4849-9F2F-22997890E264}" type="doc">
      <dgm:prSet loTypeId="urn:microsoft.com/office/officeart/2018/layout/CircleProcess" loCatId="simpleprocesssa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8A70B54-AF43-4319-B3C5-8AEB5D47C923}">
      <dgm:prSet/>
      <dgm:spPr/>
      <dgm:t>
        <a:bodyPr/>
        <a:lstStyle/>
        <a:p>
          <a:r>
            <a:rPr lang="en-US" dirty="0"/>
            <a:t>High spend </a:t>
          </a:r>
        </a:p>
      </dgm:t>
    </dgm:pt>
    <dgm:pt modelId="{E21BAB8E-1D23-496A-B781-BAE99DF1B3ED}" type="parTrans" cxnId="{908223B8-ADE3-4533-894D-44BC876C8FB6}">
      <dgm:prSet/>
      <dgm:spPr/>
      <dgm:t>
        <a:bodyPr/>
        <a:lstStyle/>
        <a:p>
          <a:endParaRPr lang="en-US"/>
        </a:p>
      </dgm:t>
    </dgm:pt>
    <dgm:pt modelId="{821FF554-0544-48E6-A475-9768175E2DE0}" type="sibTrans" cxnId="{908223B8-ADE3-4533-894D-44BC876C8FB6}">
      <dgm:prSet/>
      <dgm:spPr/>
      <dgm:t>
        <a:bodyPr/>
        <a:lstStyle/>
        <a:p>
          <a:endParaRPr lang="en-US"/>
        </a:p>
      </dgm:t>
    </dgm:pt>
    <dgm:pt modelId="{463A0E8D-9754-4152-967A-4047283E1D10}">
      <dgm:prSet/>
      <dgm:spPr/>
      <dgm:t>
        <a:bodyPr/>
        <a:lstStyle/>
        <a:p>
          <a:r>
            <a:rPr lang="en-US"/>
            <a:t>concave response curve </a:t>
          </a:r>
        </a:p>
      </dgm:t>
    </dgm:pt>
    <dgm:pt modelId="{3394F377-2E6A-4404-A47C-A2B3CCABBF92}" type="parTrans" cxnId="{E967A4EA-01DA-473A-9615-BD55DB96E5AB}">
      <dgm:prSet/>
      <dgm:spPr/>
      <dgm:t>
        <a:bodyPr/>
        <a:lstStyle/>
        <a:p>
          <a:endParaRPr lang="en-US"/>
        </a:p>
      </dgm:t>
    </dgm:pt>
    <dgm:pt modelId="{4744A2C8-D250-4B69-93D2-E774C406B856}" type="sibTrans" cxnId="{E967A4EA-01DA-473A-9615-BD55DB96E5AB}">
      <dgm:prSet/>
      <dgm:spPr/>
      <dgm:t>
        <a:bodyPr/>
        <a:lstStyle/>
        <a:p>
          <a:endParaRPr lang="en-US"/>
        </a:p>
      </dgm:t>
    </dgm:pt>
    <dgm:pt modelId="{82381516-72DD-4B13-939A-4C855E0367D2}">
      <dgm:prSet/>
      <dgm:spPr/>
      <dgm:t>
        <a:bodyPr/>
        <a:lstStyle/>
        <a:p>
          <a:r>
            <a:rPr lang="en-US" dirty="0"/>
            <a:t>marginal ROI &lt; total ROI </a:t>
          </a:r>
        </a:p>
      </dgm:t>
    </dgm:pt>
    <dgm:pt modelId="{27955A77-A9AA-4120-B416-96807155EA7E}" type="parTrans" cxnId="{2EBC9912-AAC9-4C0A-835E-1A73F33A339A}">
      <dgm:prSet/>
      <dgm:spPr/>
      <dgm:t>
        <a:bodyPr/>
        <a:lstStyle/>
        <a:p>
          <a:endParaRPr lang="en-US"/>
        </a:p>
      </dgm:t>
    </dgm:pt>
    <dgm:pt modelId="{C1F37CCE-3405-4E2A-8FA5-D963845893F9}" type="sibTrans" cxnId="{2EBC9912-AAC9-4C0A-835E-1A73F33A339A}">
      <dgm:prSet/>
      <dgm:spPr/>
      <dgm:t>
        <a:bodyPr/>
        <a:lstStyle/>
        <a:p>
          <a:endParaRPr lang="en-US"/>
        </a:p>
      </dgm:t>
    </dgm:pt>
    <dgm:pt modelId="{43FB414B-ADC3-43A4-B291-EF290717A98D}">
      <dgm:prSet/>
      <dgm:spPr/>
      <dgm:t>
        <a:bodyPr/>
        <a:lstStyle/>
        <a:p>
          <a:r>
            <a:rPr lang="en-US" dirty="0"/>
            <a:t>modeled revenue &lt; reported revenue.</a:t>
          </a:r>
        </a:p>
      </dgm:t>
    </dgm:pt>
    <dgm:pt modelId="{3D147309-FDD5-45B1-8053-E0716E5C303A}" type="parTrans" cxnId="{B86C01F8-2F34-4693-8DB0-59491375D22A}">
      <dgm:prSet/>
      <dgm:spPr/>
      <dgm:t>
        <a:bodyPr/>
        <a:lstStyle/>
        <a:p>
          <a:endParaRPr lang="en-US"/>
        </a:p>
      </dgm:t>
    </dgm:pt>
    <dgm:pt modelId="{A2E9CF54-C4FD-4159-A079-4A776CF33CFE}" type="sibTrans" cxnId="{B86C01F8-2F34-4693-8DB0-59491375D22A}">
      <dgm:prSet/>
      <dgm:spPr/>
      <dgm:t>
        <a:bodyPr/>
        <a:lstStyle/>
        <a:p>
          <a:endParaRPr lang="en-US"/>
        </a:p>
      </dgm:t>
    </dgm:pt>
    <dgm:pt modelId="{4ED832A9-5674-4044-BA84-EB7512D4CB9C}" type="pres">
      <dgm:prSet presAssocID="{C42BEE8D-E22A-4849-9F2F-22997890E264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F050A7BC-816E-496D-A237-724A05850C1C}" type="pres">
      <dgm:prSet presAssocID="{43FB414B-ADC3-43A4-B291-EF290717A98D}" presName="Accent4" presStyleCnt="0"/>
      <dgm:spPr/>
    </dgm:pt>
    <dgm:pt modelId="{4A13F160-E22A-409D-A2F8-E04188A30237}" type="pres">
      <dgm:prSet presAssocID="{43FB414B-ADC3-43A4-B291-EF290717A98D}" presName="Accent" presStyleLbl="node1" presStyleIdx="0" presStyleCnt="8"/>
      <dgm:spPr/>
    </dgm:pt>
    <dgm:pt modelId="{462C7BC9-359C-4832-8619-E34A9E2D6D8F}" type="pres">
      <dgm:prSet presAssocID="{43FB414B-ADC3-43A4-B291-EF290717A98D}" presName="ParentBackground4" presStyleCnt="0"/>
      <dgm:spPr/>
    </dgm:pt>
    <dgm:pt modelId="{D61BA7DC-621E-4A3C-9820-F6E4A8774EE3}" type="pres">
      <dgm:prSet presAssocID="{43FB414B-ADC3-43A4-B291-EF290717A98D}" presName="ParentBackground" presStyleLbl="node1" presStyleIdx="1" presStyleCnt="8"/>
      <dgm:spPr/>
    </dgm:pt>
    <dgm:pt modelId="{1F759608-2B68-4F6D-9C97-F399087AF23D}" type="pres">
      <dgm:prSet presAssocID="{43FB414B-ADC3-43A4-B291-EF290717A98D}" presName="Parent4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B07BD5CC-3C30-4F54-A657-7B8DC799D1E5}" type="pres">
      <dgm:prSet presAssocID="{82381516-72DD-4B13-939A-4C855E0367D2}" presName="Accent3" presStyleCnt="0"/>
      <dgm:spPr/>
    </dgm:pt>
    <dgm:pt modelId="{D96C6EFA-1707-41E5-89E0-3A75DB2A1D02}" type="pres">
      <dgm:prSet presAssocID="{82381516-72DD-4B13-939A-4C855E0367D2}" presName="Accent" presStyleLbl="node1" presStyleIdx="2" presStyleCnt="8"/>
      <dgm:spPr/>
    </dgm:pt>
    <dgm:pt modelId="{74D3B7FE-35C0-48FB-A4C8-2FA7AD00A8E0}" type="pres">
      <dgm:prSet presAssocID="{82381516-72DD-4B13-939A-4C855E0367D2}" presName="ParentBackground3" presStyleCnt="0"/>
      <dgm:spPr/>
    </dgm:pt>
    <dgm:pt modelId="{17442FB2-4CEF-48A3-8E85-8C66BC7CF9CD}" type="pres">
      <dgm:prSet presAssocID="{82381516-72DD-4B13-939A-4C855E0367D2}" presName="ParentBackground" presStyleLbl="node1" presStyleIdx="3" presStyleCnt="8"/>
      <dgm:spPr/>
    </dgm:pt>
    <dgm:pt modelId="{D004A9F7-2E82-4C86-AEDC-35D92DF56692}" type="pres">
      <dgm:prSet presAssocID="{82381516-72DD-4B13-939A-4C855E0367D2}" presName="Parent3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A4477781-6480-41AA-97F8-A577A40D812C}" type="pres">
      <dgm:prSet presAssocID="{463A0E8D-9754-4152-967A-4047283E1D10}" presName="Accent2" presStyleCnt="0"/>
      <dgm:spPr/>
    </dgm:pt>
    <dgm:pt modelId="{A8361375-1DFB-4951-99C7-BA946FC9064C}" type="pres">
      <dgm:prSet presAssocID="{463A0E8D-9754-4152-967A-4047283E1D10}" presName="Accent" presStyleLbl="node1" presStyleIdx="4" presStyleCnt="8"/>
      <dgm:spPr/>
    </dgm:pt>
    <dgm:pt modelId="{5BAB674E-8C45-411B-8BB9-E930777F49F1}" type="pres">
      <dgm:prSet presAssocID="{463A0E8D-9754-4152-967A-4047283E1D10}" presName="ParentBackground2" presStyleCnt="0"/>
      <dgm:spPr/>
    </dgm:pt>
    <dgm:pt modelId="{3429A86C-4F22-4DD2-B931-D485A5D58F4C}" type="pres">
      <dgm:prSet presAssocID="{463A0E8D-9754-4152-967A-4047283E1D10}" presName="ParentBackground" presStyleLbl="node1" presStyleIdx="5" presStyleCnt="8"/>
      <dgm:spPr/>
    </dgm:pt>
    <dgm:pt modelId="{FE3481FF-21BE-4A7F-94E5-979E3AE66EDA}" type="pres">
      <dgm:prSet presAssocID="{463A0E8D-9754-4152-967A-4047283E1D10}" presName="Parent2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4DA5BC3C-55A0-4144-9687-DAC163393770}" type="pres">
      <dgm:prSet presAssocID="{48A70B54-AF43-4319-B3C5-8AEB5D47C923}" presName="Accent1" presStyleCnt="0"/>
      <dgm:spPr/>
    </dgm:pt>
    <dgm:pt modelId="{48A2AE48-3636-443C-B85C-9EA581FB6EA3}" type="pres">
      <dgm:prSet presAssocID="{48A70B54-AF43-4319-B3C5-8AEB5D47C923}" presName="Accent" presStyleLbl="node1" presStyleIdx="6" presStyleCnt="8"/>
      <dgm:spPr/>
    </dgm:pt>
    <dgm:pt modelId="{66D89882-063F-46AB-8E59-63164E30EFF0}" type="pres">
      <dgm:prSet presAssocID="{48A70B54-AF43-4319-B3C5-8AEB5D47C923}" presName="ParentBackground1" presStyleCnt="0"/>
      <dgm:spPr/>
    </dgm:pt>
    <dgm:pt modelId="{1EB4877B-72BD-4CD6-B716-37AB2DE5B3E4}" type="pres">
      <dgm:prSet presAssocID="{48A70B54-AF43-4319-B3C5-8AEB5D47C923}" presName="ParentBackground" presStyleLbl="node1" presStyleIdx="7" presStyleCnt="8"/>
      <dgm:spPr/>
    </dgm:pt>
    <dgm:pt modelId="{C5B07EBC-456E-4F77-9E6D-5409C56EBAC0}" type="pres">
      <dgm:prSet presAssocID="{48A70B54-AF43-4319-B3C5-8AEB5D47C923}" presName="Parent1" presStyleLbl="fgAcc0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2EBC9912-AAC9-4C0A-835E-1A73F33A339A}" srcId="{C42BEE8D-E22A-4849-9F2F-22997890E264}" destId="{82381516-72DD-4B13-939A-4C855E0367D2}" srcOrd="2" destOrd="0" parTransId="{27955A77-A9AA-4120-B416-96807155EA7E}" sibTransId="{C1F37CCE-3405-4E2A-8FA5-D963845893F9}"/>
    <dgm:cxn modelId="{6DFDCA32-8553-4911-8F9A-A79BA9915980}" type="presOf" srcId="{48A70B54-AF43-4319-B3C5-8AEB5D47C923}" destId="{C5B07EBC-456E-4F77-9E6D-5409C56EBAC0}" srcOrd="1" destOrd="0" presId="urn:microsoft.com/office/officeart/2018/layout/CircleProcess"/>
    <dgm:cxn modelId="{928B1F61-D0A9-4F6E-AB14-95B79389DB30}" type="presOf" srcId="{C42BEE8D-E22A-4849-9F2F-22997890E264}" destId="{4ED832A9-5674-4044-BA84-EB7512D4CB9C}" srcOrd="0" destOrd="0" presId="urn:microsoft.com/office/officeart/2018/layout/CircleProcess"/>
    <dgm:cxn modelId="{FB9DB845-E46F-4F22-A74D-A80FE68115C8}" type="presOf" srcId="{43FB414B-ADC3-43A4-B291-EF290717A98D}" destId="{1F759608-2B68-4F6D-9C97-F399087AF23D}" srcOrd="1" destOrd="0" presId="urn:microsoft.com/office/officeart/2018/layout/CircleProcess"/>
    <dgm:cxn modelId="{A9D7434B-6954-47F6-9FDF-7D9EFE95AACC}" type="presOf" srcId="{82381516-72DD-4B13-939A-4C855E0367D2}" destId="{D004A9F7-2E82-4C86-AEDC-35D92DF56692}" srcOrd="1" destOrd="0" presId="urn:microsoft.com/office/officeart/2018/layout/CircleProcess"/>
    <dgm:cxn modelId="{7213456E-1EB9-4A69-A3B5-414A12AA3A11}" type="presOf" srcId="{463A0E8D-9754-4152-967A-4047283E1D10}" destId="{3429A86C-4F22-4DD2-B931-D485A5D58F4C}" srcOrd="0" destOrd="0" presId="urn:microsoft.com/office/officeart/2018/layout/CircleProcess"/>
    <dgm:cxn modelId="{E4ED0A90-7A8B-417E-81D0-2C444981E379}" type="presOf" srcId="{48A70B54-AF43-4319-B3C5-8AEB5D47C923}" destId="{1EB4877B-72BD-4CD6-B716-37AB2DE5B3E4}" srcOrd="0" destOrd="0" presId="urn:microsoft.com/office/officeart/2018/layout/CircleProcess"/>
    <dgm:cxn modelId="{D371A2AA-DBE8-441D-A93B-2E34E831250D}" type="presOf" srcId="{82381516-72DD-4B13-939A-4C855E0367D2}" destId="{17442FB2-4CEF-48A3-8E85-8C66BC7CF9CD}" srcOrd="0" destOrd="0" presId="urn:microsoft.com/office/officeart/2018/layout/CircleProcess"/>
    <dgm:cxn modelId="{908223B8-ADE3-4533-894D-44BC876C8FB6}" srcId="{C42BEE8D-E22A-4849-9F2F-22997890E264}" destId="{48A70B54-AF43-4319-B3C5-8AEB5D47C923}" srcOrd="0" destOrd="0" parTransId="{E21BAB8E-1D23-496A-B781-BAE99DF1B3ED}" sibTransId="{821FF554-0544-48E6-A475-9768175E2DE0}"/>
    <dgm:cxn modelId="{6C55B7C1-49F8-458D-9805-FB791C5A142E}" type="presOf" srcId="{463A0E8D-9754-4152-967A-4047283E1D10}" destId="{FE3481FF-21BE-4A7F-94E5-979E3AE66EDA}" srcOrd="1" destOrd="0" presId="urn:microsoft.com/office/officeart/2018/layout/CircleProcess"/>
    <dgm:cxn modelId="{891C1DE6-78B0-4082-8DD6-C978A278EEBD}" type="presOf" srcId="{43FB414B-ADC3-43A4-B291-EF290717A98D}" destId="{D61BA7DC-621E-4A3C-9820-F6E4A8774EE3}" srcOrd="0" destOrd="0" presId="urn:microsoft.com/office/officeart/2018/layout/CircleProcess"/>
    <dgm:cxn modelId="{E967A4EA-01DA-473A-9615-BD55DB96E5AB}" srcId="{C42BEE8D-E22A-4849-9F2F-22997890E264}" destId="{463A0E8D-9754-4152-967A-4047283E1D10}" srcOrd="1" destOrd="0" parTransId="{3394F377-2E6A-4404-A47C-A2B3CCABBF92}" sibTransId="{4744A2C8-D250-4B69-93D2-E774C406B856}"/>
    <dgm:cxn modelId="{B86C01F8-2F34-4693-8DB0-59491375D22A}" srcId="{C42BEE8D-E22A-4849-9F2F-22997890E264}" destId="{43FB414B-ADC3-43A4-B291-EF290717A98D}" srcOrd="3" destOrd="0" parTransId="{3D147309-FDD5-45B1-8053-E0716E5C303A}" sibTransId="{A2E9CF54-C4FD-4159-A079-4A776CF33CFE}"/>
    <dgm:cxn modelId="{C65B9415-E833-4D5F-8377-02D8514856C1}" type="presParOf" srcId="{4ED832A9-5674-4044-BA84-EB7512D4CB9C}" destId="{F050A7BC-816E-496D-A237-724A05850C1C}" srcOrd="0" destOrd="0" presId="urn:microsoft.com/office/officeart/2018/layout/CircleProcess"/>
    <dgm:cxn modelId="{7A390424-078C-491A-9F4C-52969010C925}" type="presParOf" srcId="{F050A7BC-816E-496D-A237-724A05850C1C}" destId="{4A13F160-E22A-409D-A2F8-E04188A30237}" srcOrd="0" destOrd="0" presId="urn:microsoft.com/office/officeart/2018/layout/CircleProcess"/>
    <dgm:cxn modelId="{55FE10DC-8D75-4B4B-82AF-D7B180BA485E}" type="presParOf" srcId="{4ED832A9-5674-4044-BA84-EB7512D4CB9C}" destId="{462C7BC9-359C-4832-8619-E34A9E2D6D8F}" srcOrd="1" destOrd="0" presId="urn:microsoft.com/office/officeart/2018/layout/CircleProcess"/>
    <dgm:cxn modelId="{EA357A94-5C35-4414-8966-C70B3A379232}" type="presParOf" srcId="{462C7BC9-359C-4832-8619-E34A9E2D6D8F}" destId="{D61BA7DC-621E-4A3C-9820-F6E4A8774EE3}" srcOrd="0" destOrd="0" presId="urn:microsoft.com/office/officeart/2018/layout/CircleProcess"/>
    <dgm:cxn modelId="{2FB53E8B-766D-4DB3-AE0F-6AA1859AFA31}" type="presParOf" srcId="{4ED832A9-5674-4044-BA84-EB7512D4CB9C}" destId="{1F759608-2B68-4F6D-9C97-F399087AF23D}" srcOrd="2" destOrd="0" presId="urn:microsoft.com/office/officeart/2018/layout/CircleProcess"/>
    <dgm:cxn modelId="{4B1692B5-8644-4365-AE6D-1E67F374B497}" type="presParOf" srcId="{4ED832A9-5674-4044-BA84-EB7512D4CB9C}" destId="{B07BD5CC-3C30-4F54-A657-7B8DC799D1E5}" srcOrd="3" destOrd="0" presId="urn:microsoft.com/office/officeart/2018/layout/CircleProcess"/>
    <dgm:cxn modelId="{302D1500-18EF-46EB-8F9B-A977D73A765B}" type="presParOf" srcId="{B07BD5CC-3C30-4F54-A657-7B8DC799D1E5}" destId="{D96C6EFA-1707-41E5-89E0-3A75DB2A1D02}" srcOrd="0" destOrd="0" presId="urn:microsoft.com/office/officeart/2018/layout/CircleProcess"/>
    <dgm:cxn modelId="{E1609028-7415-4333-85F0-762E7983160C}" type="presParOf" srcId="{4ED832A9-5674-4044-BA84-EB7512D4CB9C}" destId="{74D3B7FE-35C0-48FB-A4C8-2FA7AD00A8E0}" srcOrd="4" destOrd="0" presId="urn:microsoft.com/office/officeart/2018/layout/CircleProcess"/>
    <dgm:cxn modelId="{DF7823FE-33E3-4B93-B431-056F4B86CEB6}" type="presParOf" srcId="{74D3B7FE-35C0-48FB-A4C8-2FA7AD00A8E0}" destId="{17442FB2-4CEF-48A3-8E85-8C66BC7CF9CD}" srcOrd="0" destOrd="0" presId="urn:microsoft.com/office/officeart/2018/layout/CircleProcess"/>
    <dgm:cxn modelId="{F72B0A65-DC4D-4B5A-8FD3-B86F0FC239A1}" type="presParOf" srcId="{4ED832A9-5674-4044-BA84-EB7512D4CB9C}" destId="{D004A9F7-2E82-4C86-AEDC-35D92DF56692}" srcOrd="5" destOrd="0" presId="urn:microsoft.com/office/officeart/2018/layout/CircleProcess"/>
    <dgm:cxn modelId="{8FAA172D-0D5D-42AE-959E-FA32C700C23E}" type="presParOf" srcId="{4ED832A9-5674-4044-BA84-EB7512D4CB9C}" destId="{A4477781-6480-41AA-97F8-A577A40D812C}" srcOrd="6" destOrd="0" presId="urn:microsoft.com/office/officeart/2018/layout/CircleProcess"/>
    <dgm:cxn modelId="{132CC18E-25FA-4AF3-B87B-B6E27C809080}" type="presParOf" srcId="{A4477781-6480-41AA-97F8-A577A40D812C}" destId="{A8361375-1DFB-4951-99C7-BA946FC9064C}" srcOrd="0" destOrd="0" presId="urn:microsoft.com/office/officeart/2018/layout/CircleProcess"/>
    <dgm:cxn modelId="{A1E66E93-FCA7-43B0-B0E5-7436E4F05291}" type="presParOf" srcId="{4ED832A9-5674-4044-BA84-EB7512D4CB9C}" destId="{5BAB674E-8C45-411B-8BB9-E930777F49F1}" srcOrd="7" destOrd="0" presId="urn:microsoft.com/office/officeart/2018/layout/CircleProcess"/>
    <dgm:cxn modelId="{CD0BC0C0-9180-4F40-BD9D-F12363103B10}" type="presParOf" srcId="{5BAB674E-8C45-411B-8BB9-E930777F49F1}" destId="{3429A86C-4F22-4DD2-B931-D485A5D58F4C}" srcOrd="0" destOrd="0" presId="urn:microsoft.com/office/officeart/2018/layout/CircleProcess"/>
    <dgm:cxn modelId="{700C4AA5-325D-477C-8F60-32611361BAEE}" type="presParOf" srcId="{4ED832A9-5674-4044-BA84-EB7512D4CB9C}" destId="{FE3481FF-21BE-4A7F-94E5-979E3AE66EDA}" srcOrd="8" destOrd="0" presId="urn:microsoft.com/office/officeart/2018/layout/CircleProcess"/>
    <dgm:cxn modelId="{C26023D2-512C-4299-9D1B-93CD969BD956}" type="presParOf" srcId="{4ED832A9-5674-4044-BA84-EB7512D4CB9C}" destId="{4DA5BC3C-55A0-4144-9687-DAC163393770}" srcOrd="9" destOrd="0" presId="urn:microsoft.com/office/officeart/2018/layout/CircleProcess"/>
    <dgm:cxn modelId="{0DCAD703-5B3E-4179-AF31-D0B69619F39C}" type="presParOf" srcId="{4DA5BC3C-55A0-4144-9687-DAC163393770}" destId="{48A2AE48-3636-443C-B85C-9EA581FB6EA3}" srcOrd="0" destOrd="0" presId="urn:microsoft.com/office/officeart/2018/layout/CircleProcess"/>
    <dgm:cxn modelId="{3BAD3FC5-490E-493A-8A2D-288006BA5AFE}" type="presParOf" srcId="{4ED832A9-5674-4044-BA84-EB7512D4CB9C}" destId="{66D89882-063F-46AB-8E59-63164E30EFF0}" srcOrd="10" destOrd="0" presId="urn:microsoft.com/office/officeart/2018/layout/CircleProcess"/>
    <dgm:cxn modelId="{5096701D-57A4-42BF-A69A-A5B22B7E7B14}" type="presParOf" srcId="{66D89882-063F-46AB-8E59-63164E30EFF0}" destId="{1EB4877B-72BD-4CD6-B716-37AB2DE5B3E4}" srcOrd="0" destOrd="0" presId="urn:microsoft.com/office/officeart/2018/layout/CircleProcess"/>
    <dgm:cxn modelId="{FFDEFCAD-6EF3-4E10-A1AB-C25B9EA76E42}" type="presParOf" srcId="{4ED832A9-5674-4044-BA84-EB7512D4CB9C}" destId="{C5B07EBC-456E-4F77-9E6D-5409C56EBAC0}" srcOrd="11" destOrd="0" presId="urn:microsoft.com/office/officeart/2018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290AAA-9CFF-49A4-BF3A-C957E3F31D77}">
      <dsp:nvSpPr>
        <dsp:cNvPr id="0" name=""/>
        <dsp:cNvSpPr/>
      </dsp:nvSpPr>
      <dsp:spPr>
        <a:xfrm>
          <a:off x="0" y="231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46DE87-3DC9-45AC-86B8-6ED9D209E5FB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57B46F-95C5-4859-A3F3-94103148B380}">
      <dsp:nvSpPr>
        <dsp:cNvPr id="0" name=""/>
        <dsp:cNvSpPr/>
      </dsp:nvSpPr>
      <dsp:spPr>
        <a:xfrm>
          <a:off x="1357965" y="231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Our model estimates the additional revenue generated per dollar spent, excluding long-term effects</a:t>
          </a:r>
        </a:p>
      </dsp:txBody>
      <dsp:txXfrm>
        <a:off x="1357965" y="2319"/>
        <a:ext cx="3325983" cy="1175727"/>
      </dsp:txXfrm>
    </dsp:sp>
    <dsp:sp modelId="{1209DC8D-D7AC-42C8-89AC-44D1F91600F5}">
      <dsp:nvSpPr>
        <dsp:cNvPr id="0" name=""/>
        <dsp:cNvSpPr/>
      </dsp:nvSpPr>
      <dsp:spPr>
        <a:xfrm>
          <a:off x="0" y="147197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87F203-9ED7-4717-8DAA-03836687B26A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E7BC62-E530-44E5-AF43-83F2C90BF114}">
      <dsp:nvSpPr>
        <dsp:cNvPr id="0" name=""/>
        <dsp:cNvSpPr/>
      </dsp:nvSpPr>
      <dsp:spPr>
        <a:xfrm>
          <a:off x="1357965" y="147197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Model measures incremental short-term impact</a:t>
          </a:r>
        </a:p>
      </dsp:txBody>
      <dsp:txXfrm>
        <a:off x="1357965" y="1471979"/>
        <a:ext cx="3325983" cy="1175727"/>
      </dsp:txXfrm>
    </dsp:sp>
    <dsp:sp modelId="{1E2688B7-68F9-4339-9CB6-4B2661224FB4}">
      <dsp:nvSpPr>
        <dsp:cNvPr id="0" name=""/>
        <dsp:cNvSpPr/>
      </dsp:nvSpPr>
      <dsp:spPr>
        <a:xfrm>
          <a:off x="0" y="294163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C4ED3B-C550-435B-80C8-2F51B652B606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DE33E4-E936-4709-9983-47C727703AA1}">
      <dsp:nvSpPr>
        <dsp:cNvPr id="0" name=""/>
        <dsp:cNvSpPr/>
      </dsp:nvSpPr>
      <dsp:spPr>
        <a:xfrm>
          <a:off x="1357965" y="294163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Does not fully capture long-term customer value (repeat purchases, referrals, cross-sell)</a:t>
          </a:r>
        </a:p>
      </dsp:txBody>
      <dsp:txXfrm>
        <a:off x="1357965" y="2941639"/>
        <a:ext cx="3325983" cy="1175727"/>
      </dsp:txXfrm>
    </dsp:sp>
    <dsp:sp modelId="{E93B1B27-5062-440D-8603-72F1DF894A71}">
      <dsp:nvSpPr>
        <dsp:cNvPr id="0" name=""/>
        <dsp:cNvSpPr/>
      </dsp:nvSpPr>
      <dsp:spPr>
        <a:xfrm>
          <a:off x="0" y="441129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56E117-AA9A-4453-940E-A5C668F75D08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C22642-2218-4B6D-913E-4340A3382C54}">
      <dsp:nvSpPr>
        <dsp:cNvPr id="0" name=""/>
        <dsp:cNvSpPr/>
      </dsp:nvSpPr>
      <dsp:spPr>
        <a:xfrm>
          <a:off x="1357965" y="441129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ROI reflects conservative, short-term estimate of marketing effectiveness</a:t>
          </a:r>
        </a:p>
      </dsp:txBody>
      <dsp:txXfrm>
        <a:off x="1357965" y="4411299"/>
        <a:ext cx="3325983" cy="11757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13F160-E22A-409D-A2F8-E04188A30237}">
      <dsp:nvSpPr>
        <dsp:cNvPr id="0" name=""/>
        <dsp:cNvSpPr/>
      </dsp:nvSpPr>
      <dsp:spPr>
        <a:xfrm>
          <a:off x="6259124" y="1159910"/>
          <a:ext cx="1873217" cy="187331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1BA7DC-621E-4A3C-9820-F6E4A8774EE3}">
      <dsp:nvSpPr>
        <dsp:cNvPr id="0" name=""/>
        <dsp:cNvSpPr/>
      </dsp:nvSpPr>
      <dsp:spPr>
        <a:xfrm>
          <a:off x="6321779" y="1222364"/>
          <a:ext cx="1748711" cy="1748404"/>
        </a:xfrm>
        <a:prstGeom prst="ellipse">
          <a:avLst/>
        </a:prstGeom>
        <a:solidFill>
          <a:schemeClr val="accent2">
            <a:hueOff val="668788"/>
            <a:satOff val="-834"/>
            <a:lumOff val="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modeled revenue &lt; reported revenue.</a:t>
          </a:r>
        </a:p>
      </dsp:txBody>
      <dsp:txXfrm>
        <a:off x="6571594" y="1472183"/>
        <a:ext cx="1249079" cy="1248766"/>
      </dsp:txXfrm>
    </dsp:sp>
    <dsp:sp modelId="{D96C6EFA-1707-41E5-89E0-3A75DB2A1D02}">
      <dsp:nvSpPr>
        <dsp:cNvPr id="0" name=""/>
        <dsp:cNvSpPr/>
      </dsp:nvSpPr>
      <dsp:spPr>
        <a:xfrm rot="2700000">
          <a:off x="4315203" y="1159778"/>
          <a:ext cx="1873248" cy="1873248"/>
        </a:xfrm>
        <a:prstGeom prst="teardrop">
          <a:avLst>
            <a:gd name="adj" fmla="val 100000"/>
          </a:avLst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442FB2-4CEF-48A3-8E85-8C66BC7CF9CD}">
      <dsp:nvSpPr>
        <dsp:cNvPr id="0" name=""/>
        <dsp:cNvSpPr/>
      </dsp:nvSpPr>
      <dsp:spPr>
        <a:xfrm>
          <a:off x="4385906" y="1222364"/>
          <a:ext cx="1748711" cy="1748404"/>
        </a:xfrm>
        <a:prstGeom prst="ellipse">
          <a:avLst/>
        </a:prstGeom>
        <a:solidFill>
          <a:schemeClr val="accent2">
            <a:hueOff val="2006365"/>
            <a:satOff val="-2502"/>
            <a:lumOff val="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marginal ROI &lt; total ROI </a:t>
          </a:r>
        </a:p>
      </dsp:txBody>
      <dsp:txXfrm>
        <a:off x="4635722" y="1472183"/>
        <a:ext cx="1249079" cy="1248766"/>
      </dsp:txXfrm>
    </dsp:sp>
    <dsp:sp modelId="{A8361375-1DFB-4951-99C7-BA946FC9064C}">
      <dsp:nvSpPr>
        <dsp:cNvPr id="0" name=""/>
        <dsp:cNvSpPr/>
      </dsp:nvSpPr>
      <dsp:spPr>
        <a:xfrm rot="2700000">
          <a:off x="2387363" y="1159778"/>
          <a:ext cx="1873248" cy="1873248"/>
        </a:xfrm>
        <a:prstGeom prst="teardrop">
          <a:avLst>
            <a:gd name="adj" fmla="val 100000"/>
          </a:avLst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29A86C-4F22-4DD2-B931-D485A5D58F4C}">
      <dsp:nvSpPr>
        <dsp:cNvPr id="0" name=""/>
        <dsp:cNvSpPr/>
      </dsp:nvSpPr>
      <dsp:spPr>
        <a:xfrm>
          <a:off x="2450034" y="1222364"/>
          <a:ext cx="1748711" cy="1748404"/>
        </a:xfrm>
        <a:prstGeom prst="ellipse">
          <a:avLst/>
        </a:prstGeom>
        <a:solidFill>
          <a:schemeClr val="accent2">
            <a:hueOff val="3343942"/>
            <a:satOff val="-4171"/>
            <a:lumOff val="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concave response curve </a:t>
          </a:r>
        </a:p>
      </dsp:txBody>
      <dsp:txXfrm>
        <a:off x="2699850" y="1472183"/>
        <a:ext cx="1249079" cy="1248766"/>
      </dsp:txXfrm>
    </dsp:sp>
    <dsp:sp modelId="{48A2AE48-3636-443C-B85C-9EA581FB6EA3}">
      <dsp:nvSpPr>
        <dsp:cNvPr id="0" name=""/>
        <dsp:cNvSpPr/>
      </dsp:nvSpPr>
      <dsp:spPr>
        <a:xfrm rot="2700000">
          <a:off x="451491" y="1159778"/>
          <a:ext cx="1873248" cy="1873248"/>
        </a:xfrm>
        <a:prstGeom prst="teardrop">
          <a:avLst>
            <a:gd name="adj" fmla="val 100000"/>
          </a:avLst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B4877B-72BD-4CD6-B716-37AB2DE5B3E4}">
      <dsp:nvSpPr>
        <dsp:cNvPr id="0" name=""/>
        <dsp:cNvSpPr/>
      </dsp:nvSpPr>
      <dsp:spPr>
        <a:xfrm>
          <a:off x="514161" y="1222364"/>
          <a:ext cx="1748711" cy="1748404"/>
        </a:xfrm>
        <a:prstGeom prst="ellips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High spend </a:t>
          </a:r>
        </a:p>
      </dsp:txBody>
      <dsp:txXfrm>
        <a:off x="763977" y="1472183"/>
        <a:ext cx="1249079" cy="12487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node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Marketing ROI Analysis</a:t>
            </a:r>
          </a:p>
          <a:p>
            <a:endParaRPr/>
          </a:p>
          <a:p>
            <a:r>
              <a:t>Examining discrepancies between reported and modeled revenue to uncover drivers of incremental impact, diminishing returns, and channel interactions.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 fontScale="90000"/>
          </a:bodyPr>
          <a:lstStyle/>
          <a:p>
            <a:r>
              <a:rPr lang="en-US" sz="3600" dirty="0"/>
              <a:t>Marketing Mix Modeling: Revenue Discrepancy Analysis</a:t>
            </a:r>
            <a:endParaRPr lang="en-US" sz="35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 dirty="0"/>
              <a:t>Overview of data exploration, metric distributions, and channel comparisons between dev and prod environments.</a:t>
            </a: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2EEE2C3D-3B3A-43C8-8133-3476592C22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894" r="34704" b="2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21B69-FC99-6ABD-CADA-C1DDE1062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489508"/>
            <a:ext cx="3886198" cy="1655482"/>
          </a:xfrm>
        </p:spPr>
        <p:txBody>
          <a:bodyPr anchor="b">
            <a:normAutofit/>
          </a:bodyPr>
          <a:lstStyle/>
          <a:p>
            <a:pPr algn="l"/>
            <a:r>
              <a:rPr lang="en-US" sz="3500" dirty="0"/>
              <a:t>Reported Revenue in Dev vs Prod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7E020E9-76DC-3353-3612-D3FBFB1D8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418408"/>
            <a:ext cx="3886199" cy="3409898"/>
          </a:xfrm>
        </p:spPr>
        <p:txBody>
          <a:bodyPr anchor="t">
            <a:normAutofit/>
          </a:bodyPr>
          <a:lstStyle/>
          <a:p>
            <a:r>
              <a:rPr lang="en-US" sz="1700" dirty="0"/>
              <a:t>Dev Environment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300" dirty="0"/>
              <a:t>Sampled or aggregated data → smoother trends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300" dirty="0"/>
              <a:t>Cleaner, less noisy, good for testing</a:t>
            </a:r>
          </a:p>
          <a:p>
            <a:r>
              <a:rPr lang="en-US" sz="1700" dirty="0"/>
              <a:t>Prod Environment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300" dirty="0"/>
              <a:t>Full-scale live data → more variability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300" dirty="0"/>
              <a:t>Includes late attribution, budget shifts, seasonal spikes</a:t>
            </a:r>
          </a:p>
          <a:p>
            <a:r>
              <a:rPr lang="en-US" sz="1700" dirty="0"/>
              <a:t>Key Takeaway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300" dirty="0"/>
              <a:t>Prod more volatile than Dev, and reported revenue is extremely volatile in general</a:t>
            </a:r>
          </a:p>
        </p:txBody>
      </p:sp>
      <p:pic>
        <p:nvPicPr>
          <p:cNvPr id="9" name="Content Placeholder 8" descr="A screenshot of a graph&#10;&#10;AI-generated content may be incorrect.">
            <a:extLst>
              <a:ext uri="{FF2B5EF4-FFF2-40B4-BE49-F238E27FC236}">
                <a16:creationId xmlns:a16="http://schemas.microsoft.com/office/drawing/2014/main" id="{ADB0DA22-8170-F1B8-AF25-35E48AC90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1" y="97077"/>
            <a:ext cx="4495799" cy="572751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344AAA5-41F4-4862-97EF-688D31DC7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85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E1A62C-2AAF-4B3E-8CDB-65E237080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2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50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4C8D97-4C1C-45F0-B8A3-AB5940138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489508"/>
            <a:ext cx="3886198" cy="1655482"/>
          </a:xfrm>
        </p:spPr>
        <p:txBody>
          <a:bodyPr anchor="b">
            <a:normAutofit/>
          </a:bodyPr>
          <a:lstStyle/>
          <a:p>
            <a:pPr algn="l"/>
            <a:r>
              <a:rPr lang="en-US" sz="3500" dirty="0"/>
              <a:t>Modeled Revenue in Dev vs Prod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AE588DE-89E6-9A92-605B-F9C51F00AB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418408"/>
            <a:ext cx="3886199" cy="34098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defTabSz="914400" eaLnBrk="0" fontAlgn="base" hangingPunct="0">
              <a:lnSpc>
                <a:spcPct val="120000"/>
              </a:lnSpc>
              <a:spcBef>
                <a:spcPts val="24"/>
              </a:spcBef>
              <a:spcAft>
                <a:spcPts val="600"/>
              </a:spcAft>
            </a:pPr>
            <a:r>
              <a:rPr kumimoji="0" lang="en-US" altLang="en-US" sz="6800" i="0" u="none" strike="noStrike" cap="none" normalizeH="0" baseline="0" dirty="0">
                <a:ln>
                  <a:noFill/>
                </a:ln>
                <a:effectLst/>
              </a:rPr>
              <a:t>Dev Environment</a:t>
            </a:r>
          </a:p>
          <a:p>
            <a:pPr marL="685800" lvl="1" defTabSz="914400" eaLnBrk="0" fontAlgn="base" hangingPunct="0">
              <a:lnSpc>
                <a:spcPct val="120000"/>
              </a:lnSpc>
              <a:spcBef>
                <a:spcPts val="24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5200" b="0" i="0" u="none" strike="noStrike" cap="none" normalizeH="0" baseline="0" dirty="0">
                <a:ln>
                  <a:noFill/>
                </a:ln>
                <a:effectLst/>
              </a:rPr>
              <a:t>Modeled revenue trends are stable and reproducible</a:t>
            </a:r>
          </a:p>
          <a:p>
            <a:pPr marL="685800" lvl="1" defTabSz="914400" eaLnBrk="0" fontAlgn="base" hangingPunct="0">
              <a:lnSpc>
                <a:spcPct val="120000"/>
              </a:lnSpc>
              <a:spcBef>
                <a:spcPts val="24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5200" b="0" i="0" u="none" strike="noStrike" cap="none" normalizeH="0" baseline="0" dirty="0">
                <a:ln>
                  <a:noFill/>
                </a:ln>
                <a:effectLst/>
              </a:rPr>
              <a:t>Used to validate assumptions before scaling</a:t>
            </a:r>
            <a:endParaRPr lang="en-US" altLang="en-US" sz="5200" dirty="0"/>
          </a:p>
          <a:p>
            <a:pPr defTabSz="914400" eaLnBrk="0" fontAlgn="base" hangingPunct="0">
              <a:lnSpc>
                <a:spcPct val="120000"/>
              </a:lnSpc>
              <a:spcBef>
                <a:spcPts val="24"/>
              </a:spcBef>
              <a:spcAft>
                <a:spcPts val="600"/>
              </a:spcAft>
            </a:pPr>
            <a:r>
              <a:rPr kumimoji="0" lang="en-US" altLang="en-US" sz="6800" i="0" u="none" strike="noStrike" cap="none" normalizeH="0" baseline="0" dirty="0">
                <a:ln>
                  <a:noFill/>
                </a:ln>
                <a:effectLst/>
              </a:rPr>
              <a:t>Prod Environment</a:t>
            </a:r>
          </a:p>
          <a:p>
            <a:pPr marL="685800" lvl="1" defTabSz="914400" eaLnBrk="0" fontAlgn="base" hangingPunct="0">
              <a:lnSpc>
                <a:spcPct val="120000"/>
              </a:lnSpc>
              <a:spcBef>
                <a:spcPts val="24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5200" b="0" i="0" u="none" strike="noStrike" cap="none" normalizeH="0" baseline="0" dirty="0">
                <a:ln>
                  <a:noFill/>
                </a:ln>
                <a:effectLst/>
              </a:rPr>
              <a:t>Modeled revenue aligns closely with Dev</a:t>
            </a:r>
          </a:p>
          <a:p>
            <a:pPr marL="685800" lvl="1" defTabSz="914400" eaLnBrk="0" fontAlgn="base" hangingPunct="0">
              <a:lnSpc>
                <a:spcPct val="120000"/>
              </a:lnSpc>
              <a:spcBef>
                <a:spcPts val="24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5200" b="0" i="0" u="none" strike="noStrike" cap="none" normalizeH="0" baseline="0" dirty="0">
                <a:ln>
                  <a:noFill/>
                </a:ln>
                <a:effectLst/>
              </a:rPr>
              <a:t> Confirms model robustness under real-world conditions</a:t>
            </a:r>
          </a:p>
          <a:p>
            <a:pPr defTabSz="914400" eaLnBrk="0" fontAlgn="base" hangingPunct="0">
              <a:lnSpc>
                <a:spcPct val="120000"/>
              </a:lnSpc>
              <a:spcBef>
                <a:spcPts val="24"/>
              </a:spcBef>
              <a:spcAft>
                <a:spcPts val="600"/>
              </a:spcAft>
            </a:pPr>
            <a:r>
              <a:rPr kumimoji="0" lang="en-US" altLang="en-US" sz="6800" i="0" u="none" strike="noStrike" cap="none" normalizeH="0" baseline="0" dirty="0">
                <a:ln>
                  <a:noFill/>
                </a:ln>
                <a:effectLst/>
              </a:rPr>
              <a:t>Key Takeaway</a:t>
            </a:r>
          </a:p>
          <a:p>
            <a:pPr lvl="1" defTabSz="914400" eaLnBrk="0" fontAlgn="base" hangingPunct="0">
              <a:lnSpc>
                <a:spcPct val="120000"/>
              </a:lnSpc>
              <a:spcBef>
                <a:spcPts val="24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5200" b="0" i="0" u="none" strike="noStrike" cap="none" normalizeH="0" baseline="0" dirty="0">
                <a:ln>
                  <a:noFill/>
                </a:ln>
                <a:effectLst/>
              </a:rPr>
              <a:t>Dev and Prod modeled outputs line up well, and Modeled Revenue much more stable than Reported Revenue</a:t>
            </a:r>
          </a:p>
          <a:p>
            <a:pPr lvl="1" defTabSz="914400" eaLnBrk="0" fontAlgn="base" hangingPunct="0">
              <a:lnSpc>
                <a:spcPct val="120000"/>
              </a:lnSpc>
              <a:spcBef>
                <a:spcPts val="24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5200" b="0" i="0" u="none" strike="noStrike" cap="none" normalizeH="0" baseline="0" dirty="0">
                <a:ln>
                  <a:noFill/>
                </a:ln>
                <a:effectLst/>
              </a:rPr>
              <a:t>Builds </a:t>
            </a:r>
            <a:r>
              <a:rPr kumimoji="0" lang="en-US" altLang="en-US" sz="5200" i="0" u="none" strike="noStrike" cap="none" normalizeH="0" baseline="0" dirty="0">
                <a:ln>
                  <a:noFill/>
                </a:ln>
                <a:effectLst/>
              </a:rPr>
              <a:t>trust and credibility </a:t>
            </a:r>
            <a:r>
              <a:rPr kumimoji="0" lang="en-US" altLang="en-US" sz="5200" b="0" i="0" u="none" strike="noStrike" cap="none" normalizeH="0" baseline="0" dirty="0">
                <a:ln>
                  <a:noFill/>
                </a:ln>
                <a:effectLst/>
              </a:rPr>
              <a:t>in model results</a:t>
            </a:r>
          </a:p>
          <a:p>
            <a:pPr marL="0" marR="0" lvl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D745AAD4-A24D-B28E-BF94-98F0569D8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402" y="186606"/>
            <a:ext cx="4146297" cy="59232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44AAA5-41F4-4862-97EF-688D31DC7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85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E1A62C-2AAF-4B3E-8CDB-65E237080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2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449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EE52C6F3-26E1-4223-9BF6-7F985A59C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914400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Reported vs. Modeled Revenue</a:t>
            </a:r>
          </a:p>
          <a:p>
            <a:endParaRPr/>
          </a:p>
          <a:p>
            <a:r>
              <a:t>- Observation: Modeled revenue is lower across nearly all channels.</a:t>
            </a:r>
          </a:p>
          <a:p>
            <a:r>
              <a:t>- Reason: Platforms report total influenced revenue; MMM isolates incremental short-term lift.</a:t>
            </a:r>
          </a:p>
          <a:p>
            <a:r>
              <a:t>- Implication: Reported numbers reflect broad influence, while modeled revenue reveals causal efficiency.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6" y="457201"/>
            <a:ext cx="4785943" cy="1556870"/>
          </a:xfrm>
        </p:spPr>
        <p:txBody>
          <a:bodyPr anchor="b">
            <a:normAutofit/>
          </a:bodyPr>
          <a:lstStyle/>
          <a:p>
            <a:r>
              <a:rPr lang="en-US" sz="3500"/>
              <a:t>Reported vs Modeled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297" y="2277036"/>
            <a:ext cx="4785942" cy="3461155"/>
          </a:xfrm>
        </p:spPr>
        <p:txBody>
          <a:bodyPr>
            <a:normAutofit/>
          </a:bodyPr>
          <a:lstStyle/>
          <a:p>
            <a:r>
              <a:rPr lang="en-US" sz="1700" dirty="0"/>
              <a:t>Hypothesis: Modeled revenue is generally lower as the model focuses on incremental impact.</a:t>
            </a:r>
          </a:p>
          <a:p>
            <a:r>
              <a:rPr lang="en-US" sz="1600" dirty="0"/>
              <a:t>Compared reported revenue across channels over time</a:t>
            </a:r>
          </a:p>
          <a:p>
            <a:pPr>
              <a:defRPr sz="1800"/>
            </a:pPr>
            <a:r>
              <a:rPr lang="en-US" sz="1600" dirty="0"/>
              <a:t>Visualized reported vs modeled revenue per channel</a:t>
            </a:r>
          </a:p>
          <a:p>
            <a:pPr>
              <a:defRPr sz="1800"/>
            </a:pPr>
            <a:r>
              <a:rPr lang="en-US" sz="1600" dirty="0"/>
              <a:t>Observed that modeled revenue &lt; reported revenue for almost all channels</a:t>
            </a:r>
          </a:p>
          <a:p>
            <a:pPr>
              <a:defRPr sz="1800"/>
            </a:pPr>
            <a:r>
              <a:rPr lang="en-US" sz="1600" dirty="0"/>
              <a:t>Explained by model focusing on incremental short-term impact vs. reported totals</a:t>
            </a:r>
          </a:p>
        </p:txBody>
      </p:sp>
      <p:pic>
        <p:nvPicPr>
          <p:cNvPr id="23" name="Picture 22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91BB3E16-F864-B66F-AE59-DF5DF50078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62" r="2299" b="-1"/>
          <a:stretch>
            <a:fillRect/>
          </a:stretch>
        </p:blipFill>
        <p:spPr>
          <a:xfrm>
            <a:off x="6115049" y="10"/>
            <a:ext cx="3028951" cy="3224437"/>
          </a:xfrm>
          <a:prstGeom prst="rect">
            <a:avLst/>
          </a:prstGeom>
        </p:spPr>
      </p:pic>
      <p:pic>
        <p:nvPicPr>
          <p:cNvPr id="25" name="Picture 24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ACA73055-79A9-8C79-D98D-A7627E9245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92" r="1638" b="2"/>
          <a:stretch>
            <a:fillRect/>
          </a:stretch>
        </p:blipFill>
        <p:spPr>
          <a:xfrm>
            <a:off x="6115050" y="3224447"/>
            <a:ext cx="3028950" cy="317592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800"/>
            <a:ext cx="6115049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Understanding Incremental Revenue</a:t>
            </a:r>
          </a:p>
          <a:p>
            <a:endParaRPr/>
          </a:p>
          <a:p>
            <a:r>
              <a:t>- Modeled revenue captures only the additional revenue directly generated by marketing spend.</a:t>
            </a:r>
          </a:p>
          <a:p>
            <a:r>
              <a:t>- Platform reports often overstate impact by including all influenced revenue.</a:t>
            </a:r>
          </a:p>
          <a:p>
            <a:r>
              <a:t>- Explains why modeled revenue &lt; reported revenue.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300"/>
              <a:t>Understanding Incremental Revenue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6" name="Content Placeholder 2">
            <a:extLst>
              <a:ext uri="{FF2B5EF4-FFF2-40B4-BE49-F238E27FC236}">
                <a16:creationId xmlns:a16="http://schemas.microsoft.com/office/drawing/2014/main" id="{E12A2D84-9413-83D3-E3A4-B1053B6530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6788622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7FEAE179-C525-48F3-AD47-0E9E2B6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Lagged Effects of Spend</a:t>
            </a:r>
          </a:p>
          <a:p>
            <a:endParaRPr/>
          </a:p>
          <a:p>
            <a:r>
              <a:t>- Positive lag: Impact appears with delay (awareness, brand campaigns).</a:t>
            </a:r>
          </a:p>
          <a:p>
            <a:r>
              <a:t>- Negative lag: Revenue changes precede spend adjustments (reverse causality).</a:t>
            </a:r>
          </a:p>
          <a:p>
            <a:r>
              <a:t>- Takeaway: Distinguish short-term vs. delayed channel impact when planning budgets.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9CE5530-6C8E-A95B-0E56-893FC040F2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8416" y="4883544"/>
            <a:ext cx="2907065" cy="155690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Diminishing Returns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graph of a graph&#10;&#10;AI-generated content may be incorrect.">
            <a:extLst>
              <a:ext uri="{FF2B5EF4-FFF2-40B4-BE49-F238E27FC236}">
                <a16:creationId xmlns:a16="http://schemas.microsoft.com/office/drawing/2014/main" id="{50E2F948-8509-E471-40F2-5D5A2C8B6C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0"/>
          <a:stretch>
            <a:fillRect/>
          </a:stretch>
        </p:blipFill>
        <p:spPr>
          <a:xfrm>
            <a:off x="719403" y="364142"/>
            <a:ext cx="7777234" cy="3867993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4883544"/>
            <a:ext cx="4940186" cy="155690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000" dirty="0"/>
              <a:t>Advertising platforms report total revenue claims. Modeled revenue focuses on incremental lift. Extra dollars spent on saturated channels yield smaller gains.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Some channels have much higher total spend than others.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High spend levels often coincide with diminishing marginal returns—each additional dollar spent generates less incremental revenue.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Channels with large spend may still have high total ROI historically, but the model shows current incremental efficiency is lower.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This helps explain why modeled revenue &lt; reported revenue for these channels.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Content Placeholder 4" descr="A graph of blue bars&#10;&#10;AI-generated content may be incorrect.">
            <a:extLst>
              <a:ext uri="{FF2B5EF4-FFF2-40B4-BE49-F238E27FC236}">
                <a16:creationId xmlns:a16="http://schemas.microsoft.com/office/drawing/2014/main" id="{4B42E3D9-E31A-57F7-5628-C5DCA5F8D0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0376" y="1286934"/>
            <a:ext cx="6843248" cy="410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432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Collinearity and Overlap (VIF Analysis)</a:t>
            </a:r>
          </a:p>
          <a:p>
            <a:endParaRPr/>
          </a:p>
          <a:p>
            <a:r>
              <a:t>- High VIF (&gt;10) = Strong overlap across channel spend.</a:t>
            </a:r>
          </a:p>
          <a:p>
            <a:r>
              <a:t>- Overlap reduces modeled contributions since multiple channels share credit.</a:t>
            </a:r>
          </a:p>
          <a:p>
            <a:r>
              <a:t>- Optimizing requires balancing spend across overlapping channels.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1"/>
            <a:ext cx="3719703" cy="1642969"/>
          </a:xfrm>
        </p:spPr>
        <p:txBody>
          <a:bodyPr anchor="b">
            <a:normAutofit/>
          </a:bodyPr>
          <a:lstStyle/>
          <a:p>
            <a:r>
              <a:rPr lang="en-US" sz="3500"/>
              <a:t>Total ROI vs Marginal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297" y="2418408"/>
            <a:ext cx="3719703" cy="3522569"/>
          </a:xfrm>
        </p:spPr>
        <p:txBody>
          <a:bodyPr anchor="t">
            <a:normAutofit/>
          </a:bodyPr>
          <a:lstStyle/>
          <a:p>
            <a:pPr>
              <a:defRPr sz="1800"/>
            </a:pPr>
            <a:r>
              <a:rPr lang="en-US" sz="1600" dirty="0"/>
              <a:t>Channels like StackAdapt, Amazon Ads, TikTok Ads, AdWords show high Total ROI but low Marginal ROI</a:t>
            </a:r>
          </a:p>
          <a:p>
            <a:pPr>
              <a:defRPr sz="1800"/>
            </a:pPr>
            <a:r>
              <a:rPr lang="en-US" sz="1600" dirty="0"/>
              <a:t>Indicates diminishing returns as channels become saturated</a:t>
            </a:r>
          </a:p>
          <a:p>
            <a:pPr>
              <a:defRPr sz="1800"/>
            </a:pPr>
            <a:r>
              <a:rPr lang="en-US" sz="1600" dirty="0"/>
              <a:t>Future spend in these channels yields weaker incremental gains</a:t>
            </a:r>
          </a:p>
          <a:p>
            <a:endParaRPr lang="en-US" sz="1700" dirty="0"/>
          </a:p>
        </p:txBody>
      </p:sp>
      <p:pic>
        <p:nvPicPr>
          <p:cNvPr id="5" name="Picture 4" descr="A graph with colored dots&#10;&#10;AI-generated content may be incorrect.">
            <a:extLst>
              <a:ext uri="{FF2B5EF4-FFF2-40B4-BE49-F238E27FC236}">
                <a16:creationId xmlns:a16="http://schemas.microsoft.com/office/drawing/2014/main" id="{8A1BDF40-6701-CB5D-495F-39FFF309D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331" y="1759334"/>
            <a:ext cx="3900767" cy="292557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Diminishing Returns on Marketing Spend</a:t>
            </a:r>
          </a:p>
          <a:p>
            <a:endParaRPr/>
          </a:p>
          <a:p>
            <a:r>
              <a:t>- Insight: As spend increases, marginal gains decline.</a:t>
            </a:r>
          </a:p>
          <a:p>
            <a:r>
              <a:t>- Findings:</a:t>
            </a:r>
          </a:p>
          <a:p>
            <a:r>
              <a:t>  • Channels like Amazon Ads, TikTok, AdWords, StackAdapt show high historical ROI but low incremental ROI.</a:t>
            </a:r>
          </a:p>
          <a:p>
            <a:r>
              <a:t>  • Indicates saturation—each additional dollar yields less incremental revenue.</a:t>
            </a:r>
          </a:p>
          <a:p>
            <a:r>
              <a:t>- Conclusion: Modeled revenue highlights reduced efficiency even in historically strong channels.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53CB4C-C8CC-8E47-8C61-70C286AB9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 fontScale="90000"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Diminishing Returns on Marketing Spend</a:t>
            </a:r>
            <a:endParaRPr lang="en-US" sz="3500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B986E4-2F37-4DFC-58C4-8A75F25E91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668542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346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Next Steps</a:t>
            </a:r>
          </a:p>
          <a:p>
            <a:endParaRPr/>
          </a:p>
          <a:p>
            <a:r>
              <a:t>1. Reallocate budget away from saturated channels toward higher incremental ROI opportunities.</a:t>
            </a:r>
          </a:p>
          <a:p>
            <a:r>
              <a:t>2. Identify collinear channels and test optimal spend combinations.</a:t>
            </a:r>
          </a:p>
          <a:p>
            <a:r>
              <a:t>3. Incorporate lag effects into planning—budget for both short-term impact and long-term brand lift.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965406-0D36-8783-68BB-FA2C0567D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40823"/>
            <a:ext cx="2564892" cy="558314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/>
              <a:t>Lagged Correlations Between Spend and Modeled Revenue</a:t>
            </a:r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00400" y="630936"/>
            <a:ext cx="13716" cy="5590381"/>
          </a:xfrm>
          <a:custGeom>
            <a:avLst/>
            <a:gdLst>
              <a:gd name="connsiteX0" fmla="*/ 0 w 13716"/>
              <a:gd name="connsiteY0" fmla="*/ 0 h 5590381"/>
              <a:gd name="connsiteX1" fmla="*/ 13716 w 13716"/>
              <a:gd name="connsiteY1" fmla="*/ 0 h 5590381"/>
              <a:gd name="connsiteX2" fmla="*/ 13716 w 13716"/>
              <a:gd name="connsiteY2" fmla="*/ 754701 h 5590381"/>
              <a:gd name="connsiteX3" fmla="*/ 13716 w 13716"/>
              <a:gd name="connsiteY3" fmla="*/ 1565307 h 5590381"/>
              <a:gd name="connsiteX4" fmla="*/ 13716 w 13716"/>
              <a:gd name="connsiteY4" fmla="*/ 2152297 h 5590381"/>
              <a:gd name="connsiteX5" fmla="*/ 13716 w 13716"/>
              <a:gd name="connsiteY5" fmla="*/ 2906998 h 5590381"/>
              <a:gd name="connsiteX6" fmla="*/ 13716 w 13716"/>
              <a:gd name="connsiteY6" fmla="*/ 3549892 h 5590381"/>
              <a:gd name="connsiteX7" fmla="*/ 13716 w 13716"/>
              <a:gd name="connsiteY7" fmla="*/ 4080978 h 5590381"/>
              <a:gd name="connsiteX8" fmla="*/ 13716 w 13716"/>
              <a:gd name="connsiteY8" fmla="*/ 4835680 h 5590381"/>
              <a:gd name="connsiteX9" fmla="*/ 13716 w 13716"/>
              <a:gd name="connsiteY9" fmla="*/ 5590381 h 5590381"/>
              <a:gd name="connsiteX10" fmla="*/ 0 w 13716"/>
              <a:gd name="connsiteY10" fmla="*/ 5590381 h 5590381"/>
              <a:gd name="connsiteX11" fmla="*/ 0 w 13716"/>
              <a:gd name="connsiteY11" fmla="*/ 4835680 h 5590381"/>
              <a:gd name="connsiteX12" fmla="*/ 0 w 13716"/>
              <a:gd name="connsiteY12" fmla="*/ 4304593 h 5590381"/>
              <a:gd name="connsiteX13" fmla="*/ 0 w 13716"/>
              <a:gd name="connsiteY13" fmla="*/ 3773507 h 5590381"/>
              <a:gd name="connsiteX14" fmla="*/ 0 w 13716"/>
              <a:gd name="connsiteY14" fmla="*/ 3186517 h 5590381"/>
              <a:gd name="connsiteX15" fmla="*/ 0 w 13716"/>
              <a:gd name="connsiteY15" fmla="*/ 2487720 h 5590381"/>
              <a:gd name="connsiteX16" fmla="*/ 0 w 13716"/>
              <a:gd name="connsiteY16" fmla="*/ 1956633 h 5590381"/>
              <a:gd name="connsiteX17" fmla="*/ 0 w 13716"/>
              <a:gd name="connsiteY17" fmla="*/ 1425547 h 5590381"/>
              <a:gd name="connsiteX18" fmla="*/ 0 w 13716"/>
              <a:gd name="connsiteY18" fmla="*/ 614942 h 5590381"/>
              <a:gd name="connsiteX19" fmla="*/ 0 w 13716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3716" h="5590381" fill="none" extrusionOk="0">
                <a:moveTo>
                  <a:pt x="0" y="0"/>
                </a:moveTo>
                <a:cubicBezTo>
                  <a:pt x="6519" y="-664"/>
                  <a:pt x="8288" y="665"/>
                  <a:pt x="13716" y="0"/>
                </a:cubicBezTo>
                <a:cubicBezTo>
                  <a:pt x="-9798" y="225076"/>
                  <a:pt x="41703" y="562283"/>
                  <a:pt x="13716" y="754701"/>
                </a:cubicBezTo>
                <a:cubicBezTo>
                  <a:pt x="-14271" y="947119"/>
                  <a:pt x="25509" y="1239251"/>
                  <a:pt x="13716" y="1565307"/>
                </a:cubicBezTo>
                <a:cubicBezTo>
                  <a:pt x="1923" y="1891363"/>
                  <a:pt x="2588" y="1999140"/>
                  <a:pt x="13716" y="2152297"/>
                </a:cubicBezTo>
                <a:cubicBezTo>
                  <a:pt x="24845" y="2305454"/>
                  <a:pt x="24133" y="2598333"/>
                  <a:pt x="13716" y="2906998"/>
                </a:cubicBezTo>
                <a:cubicBezTo>
                  <a:pt x="3299" y="3215663"/>
                  <a:pt x="30691" y="3327412"/>
                  <a:pt x="13716" y="3549892"/>
                </a:cubicBezTo>
                <a:cubicBezTo>
                  <a:pt x="-3259" y="3772372"/>
                  <a:pt x="33989" y="3843836"/>
                  <a:pt x="13716" y="4080978"/>
                </a:cubicBezTo>
                <a:cubicBezTo>
                  <a:pt x="-6557" y="4318120"/>
                  <a:pt x="-8378" y="4511166"/>
                  <a:pt x="13716" y="4835680"/>
                </a:cubicBezTo>
                <a:cubicBezTo>
                  <a:pt x="35810" y="5160194"/>
                  <a:pt x="-17642" y="5401748"/>
                  <a:pt x="13716" y="5590381"/>
                </a:cubicBezTo>
                <a:cubicBezTo>
                  <a:pt x="8599" y="5590092"/>
                  <a:pt x="6708" y="5590668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3716" h="5590381" stroke="0" extrusionOk="0">
                <a:moveTo>
                  <a:pt x="0" y="0"/>
                </a:moveTo>
                <a:cubicBezTo>
                  <a:pt x="4626" y="620"/>
                  <a:pt x="7856" y="-428"/>
                  <a:pt x="13716" y="0"/>
                </a:cubicBezTo>
                <a:cubicBezTo>
                  <a:pt x="36569" y="165299"/>
                  <a:pt x="-959" y="427555"/>
                  <a:pt x="13716" y="698798"/>
                </a:cubicBezTo>
                <a:cubicBezTo>
                  <a:pt x="28391" y="970041"/>
                  <a:pt x="15108" y="1226199"/>
                  <a:pt x="13716" y="1397595"/>
                </a:cubicBezTo>
                <a:cubicBezTo>
                  <a:pt x="12324" y="1568991"/>
                  <a:pt x="34226" y="1794517"/>
                  <a:pt x="13716" y="2152297"/>
                </a:cubicBezTo>
                <a:cubicBezTo>
                  <a:pt x="-6794" y="2510077"/>
                  <a:pt x="36274" y="2594424"/>
                  <a:pt x="13716" y="2739287"/>
                </a:cubicBezTo>
                <a:cubicBezTo>
                  <a:pt x="-8842" y="2884150"/>
                  <a:pt x="22545" y="3129706"/>
                  <a:pt x="13716" y="3493988"/>
                </a:cubicBezTo>
                <a:cubicBezTo>
                  <a:pt x="4887" y="3858270"/>
                  <a:pt x="49629" y="4041447"/>
                  <a:pt x="13716" y="4304593"/>
                </a:cubicBezTo>
                <a:cubicBezTo>
                  <a:pt x="-22197" y="4567740"/>
                  <a:pt x="45055" y="5149125"/>
                  <a:pt x="13716" y="5590381"/>
                </a:cubicBezTo>
                <a:cubicBezTo>
                  <a:pt x="9649" y="5590058"/>
                  <a:pt x="6483" y="5589928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6B9C94D0-4781-A951-CB8F-8413D3492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036473"/>
            <a:ext cx="5170932" cy="3102558"/>
          </a:xfrm>
          <a:prstGeom prst="rect">
            <a:avLst/>
          </a:prstGeom>
        </p:spPr>
      </p:pic>
      <p:sp>
        <p:nvSpPr>
          <p:cNvPr id="22" name="Rectangle 4">
            <a:extLst>
              <a:ext uri="{FF2B5EF4-FFF2-40B4-BE49-F238E27FC236}">
                <a16:creationId xmlns:a16="http://schemas.microsoft.com/office/drawing/2014/main" id="{C2CF59B8-6C3E-B713-F476-41A803E6B6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90722" y="4798577"/>
            <a:ext cx="5170932" cy="14284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Shows how spend in each channel impacts revenue over time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Positive lag → effect of spend shows up after a delay (e.g., awareness campaigns)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Negative lag → potential reverse causality (revenue movements precede spend adjustments)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Helps distinguish short-term vs. delayed channel impact</a:t>
            </a:r>
          </a:p>
        </p:txBody>
      </p:sp>
    </p:spTree>
    <p:extLst>
      <p:ext uri="{BB962C8B-B14F-4D97-AF65-F5344CB8AC3E}">
        <p14:creationId xmlns:p14="http://schemas.microsoft.com/office/powerpoint/2010/main" val="2194764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1"/>
            <a:ext cx="3719703" cy="1642969"/>
          </a:xfrm>
        </p:spPr>
        <p:txBody>
          <a:bodyPr anchor="b">
            <a:normAutofit fontScale="90000"/>
          </a:bodyPr>
          <a:lstStyle/>
          <a:p>
            <a:r>
              <a:rPr lang="en-US" sz="3500" dirty="0"/>
              <a:t>Collinearity: Variance Inflation Factor (VIF)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297" y="2418408"/>
            <a:ext cx="3719703" cy="3522569"/>
          </a:xfrm>
        </p:spPr>
        <p:txBody>
          <a:bodyPr anchor="t">
            <a:normAutofit/>
          </a:bodyPr>
          <a:lstStyle/>
          <a:p>
            <a:r>
              <a:rPr lang="en-US" sz="1700" dirty="0"/>
              <a:t>High VIF (&gt;10) indicates strong overlap in channel spend, explaining why modeled contributions may appear lower than reported revenue.</a:t>
            </a:r>
          </a:p>
        </p:txBody>
      </p:sp>
      <p:pic>
        <p:nvPicPr>
          <p:cNvPr id="5" name="Picture 4" descr="A chart with text on it&#10;&#10;AI-generated content may be incorrect.">
            <a:extLst>
              <a:ext uri="{FF2B5EF4-FFF2-40B4-BE49-F238E27FC236}">
                <a16:creationId xmlns:a16="http://schemas.microsoft.com/office/drawing/2014/main" id="{9C991CBA-E120-0492-5134-FCEFDFCE0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331" y="2095775"/>
            <a:ext cx="3900767" cy="2252692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 dirty="0"/>
              <a:t>Identify saturated channels and reallocate budget to maximize incremental impact.</a:t>
            </a:r>
          </a:p>
          <a:p>
            <a:r>
              <a:rPr lang="en-US" sz="1700" dirty="0"/>
              <a:t>Find collinear channels and see if there is an optimal allocation of spend to a combination </a:t>
            </a:r>
            <a:r>
              <a:rPr lang="en-US" sz="1700"/>
              <a:t>of channels.</a:t>
            </a:r>
            <a:endParaRPr lang="en-US" sz="1700" dirty="0"/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2BBA4D8C-148C-EB70-08B8-269F6AAB65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350" r="20100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C996B-9BFD-A5E3-759B-F030877FF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/>
              <a:t>Key Takeaways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2A3065D-A150-30A5-810D-F2EA19735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 b="1"/>
              <a:t>Reported revenue = influence</a:t>
            </a:r>
            <a:br>
              <a:rPr lang="en-US" sz="1900"/>
            </a:br>
            <a:r>
              <a:rPr lang="en-US" sz="1900"/>
              <a:t>(broad attribution claimed by platforms)</a:t>
            </a:r>
          </a:p>
          <a:p>
            <a:pPr>
              <a:lnSpc>
                <a:spcPct val="90000"/>
              </a:lnSpc>
            </a:pPr>
            <a:r>
              <a:rPr lang="en-US" sz="1900" b="1" dirty="0"/>
              <a:t>Modeled revenue = causality</a:t>
            </a:r>
            <a:br>
              <a:rPr lang="en-US" sz="1900" dirty="0"/>
            </a:br>
            <a:r>
              <a:rPr lang="en-US" sz="1900" dirty="0"/>
              <a:t>(isolates incremental lift directly caused by spend)</a:t>
            </a:r>
          </a:p>
          <a:p>
            <a:pPr>
              <a:lnSpc>
                <a:spcPct val="90000"/>
              </a:lnSpc>
            </a:pPr>
            <a:r>
              <a:rPr lang="en-US" sz="1900" b="1" dirty="0"/>
              <a:t>Sharpen budget decisions</a:t>
            </a:r>
            <a:r>
              <a:rPr lang="en-US" sz="1900" dirty="0"/>
              <a:t> by focusing on incremental and marginal ROI</a:t>
            </a:r>
          </a:p>
          <a:p>
            <a:pPr>
              <a:lnSpc>
                <a:spcPct val="90000"/>
              </a:lnSpc>
            </a:pPr>
            <a:r>
              <a:rPr lang="en-US" sz="1900" b="1" dirty="0"/>
              <a:t>Business takeaway:</a:t>
            </a:r>
            <a:r>
              <a:rPr lang="en-US" sz="1900" dirty="0"/>
              <a:t> modeled view guides where to invest next</a:t>
            </a:r>
          </a:p>
          <a:p>
            <a:pPr>
              <a:lnSpc>
                <a:spcPct val="90000"/>
              </a:lnSpc>
            </a:pPr>
            <a:r>
              <a:rPr lang="en-US" sz="1900" b="1" dirty="0"/>
              <a:t>Data science focus:</a:t>
            </a:r>
            <a:r>
              <a:rPr lang="en-US" sz="1900" dirty="0"/>
              <a:t> refine the model (saturation, lag, overlap) for reliable recommendations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Statistics">
            <a:extLst>
              <a:ext uri="{FF2B5EF4-FFF2-40B4-BE49-F238E27FC236}">
                <a16:creationId xmlns:a16="http://schemas.microsoft.com/office/drawing/2014/main" id="{917E38C1-29C3-E10F-3358-8B1EB3CE0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62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</TotalTime>
  <Words>888</Words>
  <Application>Microsoft Office PowerPoint</Application>
  <PresentationFormat>On-screen Show (4:3)</PresentationFormat>
  <Paragraphs>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Marketing Mix Modeling: Revenue Discrepancy Analysis</vt:lpstr>
      <vt:lpstr>Reported Revenue in Dev vs Prod</vt:lpstr>
      <vt:lpstr>Modeled Revenue in Dev vs Prod</vt:lpstr>
      <vt:lpstr>Reported vs Modeled Revenue</vt:lpstr>
      <vt:lpstr>Understanding Incremental Revenue</vt:lpstr>
      <vt:lpstr>Diminishing Returns</vt:lpstr>
      <vt:lpstr>PowerPoint Presentation</vt:lpstr>
      <vt:lpstr>Total ROI vs Marginal ROI</vt:lpstr>
      <vt:lpstr>Diminishing Returns on Marketing Spend</vt:lpstr>
      <vt:lpstr>Lagged Correlations Between Spend and Modeled Revenue</vt:lpstr>
      <vt:lpstr>Collinearity: Variance Inflation Factor (VIF)</vt:lpstr>
      <vt:lpstr>Next Steps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Danny Xia</dc:creator>
  <cp:keywords/>
  <dc:description>generated using python-pptx</dc:description>
  <cp:lastModifiedBy>Danny Xia</cp:lastModifiedBy>
  <cp:revision>10</cp:revision>
  <dcterms:created xsi:type="dcterms:W3CDTF">2013-01-27T09:14:16Z</dcterms:created>
  <dcterms:modified xsi:type="dcterms:W3CDTF">2025-08-21T01:11:48Z</dcterms:modified>
  <cp:category/>
</cp:coreProperties>
</file>